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326" r:id="rId3"/>
    <p:sldId id="325" r:id="rId4"/>
    <p:sldId id="291" r:id="rId5"/>
    <p:sldId id="295" r:id="rId6"/>
    <p:sldId id="322" r:id="rId7"/>
    <p:sldId id="323" r:id="rId8"/>
    <p:sldId id="320" r:id="rId9"/>
    <p:sldId id="324" r:id="rId10"/>
    <p:sldId id="327" r:id="rId11"/>
    <p:sldId id="329" r:id="rId12"/>
    <p:sldId id="330" r:id="rId13"/>
    <p:sldId id="328" r:id="rId14"/>
    <p:sldId id="288" r:id="rId15"/>
    <p:sldId id="321" r:id="rId16"/>
    <p:sldId id="331" r:id="rId17"/>
    <p:sldId id="332" r:id="rId18"/>
    <p:sldId id="290" r:id="rId19"/>
  </p:sldIdLst>
  <p:sldSz cx="9144000" cy="6858000" type="screen4x3"/>
  <p:notesSz cx="7315200" cy="96012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024">
          <p15:clr>
            <a:srgbClr val="A4A3A4"/>
          </p15:clr>
        </p15:guide>
        <p15:guide id="4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4" autoAdjust="0"/>
    <p:restoredTop sz="87513" autoAdjust="0"/>
  </p:normalViewPr>
  <p:slideViewPr>
    <p:cSldViewPr snapToGrid="0" snapToObjects="1">
      <p:cViewPr varScale="1">
        <p:scale>
          <a:sx n="145" d="100"/>
          <a:sy n="145" d="100"/>
        </p:scale>
        <p:origin x="2248" y="92"/>
      </p:cViewPr>
      <p:guideLst>
        <p:guide orient="horz" pos="4319"/>
        <p:guide/>
      </p:guideLst>
    </p:cSldViewPr>
  </p:slideViewPr>
  <p:outlineViewPr>
    <p:cViewPr>
      <p:scale>
        <a:sx n="33" d="100"/>
        <a:sy n="33" d="100"/>
      </p:scale>
      <p:origin x="0" y="17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-3150" y="-78"/>
      </p:cViewPr>
      <p:guideLst>
        <p:guide orient="horz" pos="2880"/>
        <p:guide pos="2160"/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49798-951A-4067-B22B-D247819D8B8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247972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6661" tIns="48331" rIns="96661" bIns="48331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BEADD9D0-9A5B-42EB-9A7F-1A24ED3C41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3910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ADD9D0-9A5B-42EB-9A7F-1A24ED3C410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52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DD9D0-9A5B-42EB-9A7F-1A24ED3C410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87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DD9D0-9A5B-42EB-9A7F-1A24ED3C410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38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DD9D0-9A5B-42EB-9A7F-1A24ED3C410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77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DD9D0-9A5B-42EB-9A7F-1A24ED3C410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79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DD9D0-9A5B-42EB-9A7F-1A24ED3C410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64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DD9D0-9A5B-42EB-9A7F-1A24ED3C410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20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DD9D0-9A5B-42EB-9A7F-1A24ED3C410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60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DD9D0-9A5B-42EB-9A7F-1A24ED3C410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60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54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sp>
        <p:nvSpPr>
          <p:cNvPr id="8" name="Rectangle 7"/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D87AED3-F17A-4119-9788-549F65F9F686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n-GB"/>
              <a:t>Prepared by Safurah Abdul Jalil</a:t>
            </a:r>
          </a:p>
        </p:txBody>
      </p:sp>
    </p:spTree>
    <p:extLst>
      <p:ext uri="{BB962C8B-B14F-4D97-AF65-F5344CB8AC3E}">
        <p14:creationId xmlns:p14="http://schemas.microsoft.com/office/powerpoint/2010/main" val="839247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36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sp>
        <p:nvSpPr>
          <p:cNvPr id="6" name="Rectangle 5"/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882775"/>
            <a:ext cx="88519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1981200"/>
            <a:ext cx="7369175" cy="4144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CF7DC9-BD27-40A4-BF5B-12010F1F3BDD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Prepared by Safurah Abdul Jalil</a:t>
            </a:r>
          </a:p>
          <a:p>
            <a:pPr>
              <a:defRPr/>
            </a:pPr>
            <a:endParaRPr lang="en-GB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AC7359-5317-44CF-8846-6E36A68957F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367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36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882775"/>
            <a:ext cx="88519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476" y="1129553"/>
            <a:ext cx="7559002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8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43466-7433-49BB-BAA0-D763A00DEFD1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Prepared by Safurah Abdul Jalil</a:t>
            </a:r>
          </a:p>
          <a:p>
            <a:pPr>
              <a:defRPr/>
            </a:pPr>
            <a:endParaRPr lang="en-GB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0AED9-7823-44AF-A16B-4EDD6EBDF94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35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54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F24A274-5C90-461E-8E7F-DD4EB20E4617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n-GB"/>
              <a:t>Prepared by Safurah Abdul Jalil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4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40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sp>
        <p:nvSpPr>
          <p:cNvPr id="6" name="Rectangle 5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B3B006-FCAB-46AB-A427-E63D58473985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GB"/>
              <a:t>Prepared by Safurah Abdul Jalil</a:t>
            </a:r>
          </a:p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/>
            </a:lvl1pPr>
          </a:lstStyle>
          <a:p>
            <a:fld id="{9E17F41D-E107-4D89-A78D-FE262BF8B5D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64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36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882775"/>
            <a:ext cx="88519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BAB25B-CF97-4499-A946-D9266CB7E2EA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D8CB2C-EFCE-4745-99F1-C5362C7CFBD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880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36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882775"/>
            <a:ext cx="88519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75AB2-8548-410E-9713-47DB732E90B3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1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5B1F6-D1B5-4E16-B9F1-413DC8791BD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316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36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sp>
        <p:nvSpPr>
          <p:cNvPr id="6" name="Rectangle 5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882775"/>
            <a:ext cx="88519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8E98C-53EE-448B-B4F0-F5316E2237F9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CF1C6B6C-ED82-4714-9B3A-825429AC2AF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092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36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882775"/>
            <a:ext cx="88519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5FD4F-6C1A-44F2-854D-E7DE64757C28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71E43017-3876-478F-8342-8EFC330787C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359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36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882775"/>
            <a:ext cx="88519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5FD60-2E7A-473D-94A4-04946D11FA68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9C976C28-8C9E-4E16-947A-A5716A48689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37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36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1882775"/>
            <a:ext cx="88519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ABD5D-9DC0-42C8-B575-A045F32180B6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93C66-A244-4224-8FA1-264CFB52405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078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831850"/>
            <a:ext cx="8268927" cy="542925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F5646-F776-4340-B95E-37F3731C0C79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80810-2F10-4EC0-A1DA-FE9D8957C06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689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54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7A09B-0ADF-4824-ABC7-5E0C967A49B6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50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b="1">
                <a:solidFill>
                  <a:srgbClr val="B870B8"/>
                </a:solidFill>
                <a:latin typeface="Rockwell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38BDE-0F7F-4F31-84BD-8337595A0141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AC85D-41DF-46FF-B0F3-2BCB880681D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862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b="1">
                <a:solidFill>
                  <a:srgbClr val="B870B8"/>
                </a:solidFill>
                <a:latin typeface="Rockwell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D926A-BF9E-46BD-AE33-418127D4FE30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A61908-3F89-4FF3-9828-A1B69240828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966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54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FC6660E-37CA-4D02-B6E4-0519BE7A5650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438DBFDF-7831-4015-9354-8B339D354D0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012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54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16189D0-CAAB-4987-AF2C-5FD58FB39D71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15" name="Footer Placeholder 5"/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5273F6DD-E2FF-4B26-9EB9-0A0016F0F3A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074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b="1">
                <a:solidFill>
                  <a:srgbClr val="B870B8"/>
                </a:solidFill>
                <a:latin typeface="Rockwell" pitchFamily="18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87F09-F143-46B5-95A6-F23150CEFD81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975502B9-CDC6-445B-8DFA-A8E4569B5A4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533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36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882775"/>
            <a:ext cx="88519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8A7E5-D5B1-4245-A4C7-CCAD59EBC58F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1E73D1-71CB-4D5D-B881-E07168C1EF9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497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ea typeface="ＭＳ Ｐゴシック" pitchFamily="34" charset="-128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3600" b="1">
                <a:solidFill>
                  <a:srgbClr val="B870B8"/>
                </a:solidFill>
                <a:latin typeface="Rockwell" pitchFamily="18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ACC6D-18F8-4616-8DF4-C52A28831A4B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A6169C-7F63-4C09-B8D3-BB6D1FAF2FC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43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rgbClr val="595959"/>
                </a:solidFill>
                <a:latin typeface="Rockwell" pitchFamily="18" charset="0"/>
              </a:defRPr>
            </a:lvl1pPr>
          </a:lstStyle>
          <a:p>
            <a:pPr>
              <a:defRPr/>
            </a:pPr>
            <a:fld id="{EAF91861-4C54-45E9-AACD-84EFC0E987F1}" type="datetime1">
              <a:rPr lang="en-US"/>
              <a:pPr>
                <a:defRPr/>
              </a:pPr>
              <a:t>6/3/2020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rgbClr val="595959"/>
                </a:solidFill>
                <a:latin typeface="Rockwell" pitchFamily="18" charset="0"/>
              </a:defRPr>
            </a:lvl1pPr>
          </a:lstStyle>
          <a:p>
            <a:pPr>
              <a:defRPr/>
            </a:pPr>
            <a:r>
              <a:rPr lang="en-GB"/>
              <a:t>Prepared by Safurah Abdul Jalil</a:t>
            </a:r>
          </a:p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Rockwell" panose="02060603020205020403" pitchFamily="18" charset="0"/>
              </a:defRPr>
            </a:lvl1pPr>
          </a:lstStyle>
          <a:p>
            <a:fld id="{93FEE9FA-2BAA-4100-BEA6-F275E93B0838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1" r:id="rId1"/>
    <p:sldLayoutId id="2147484302" r:id="rId2"/>
    <p:sldLayoutId id="2147484303" r:id="rId3"/>
    <p:sldLayoutId id="2147484304" r:id="rId4"/>
    <p:sldLayoutId id="2147484305" r:id="rId5"/>
    <p:sldLayoutId id="2147484306" r:id="rId6"/>
    <p:sldLayoutId id="2147484307" r:id="rId7"/>
    <p:sldLayoutId id="2147484308" r:id="rId8"/>
    <p:sldLayoutId id="2147484309" r:id="rId9"/>
    <p:sldLayoutId id="2147484310" r:id="rId10"/>
    <p:sldLayoutId id="2147484311" r:id="rId11"/>
    <p:sldLayoutId id="2147484312" r:id="rId12"/>
    <p:sldLayoutId id="2147484313" r:id="rId13"/>
    <p:sldLayoutId id="2147484314" r:id="rId14"/>
    <p:sldLayoutId id="2147484315" r:id="rId15"/>
    <p:sldLayoutId id="2147484316" r:id="rId16"/>
    <p:sldLayoutId id="2147484317" r:id="rId17"/>
    <p:sldLayoutId id="2147484318" r:id="rId18"/>
    <p:sldLayoutId id="2147484319" r:id="rId19"/>
    <p:sldLayoutId id="2147484320" r:id="rId2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charset="0"/>
          <a:ea typeface="ＭＳ Ｐゴシック" charset="-128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ＭＳ Ｐゴシック" charset="-128"/>
          <a:cs typeface="ＭＳ Ｐゴシック" charset="-128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sz="2800" kern="1200">
          <a:solidFill>
            <a:srgbClr val="595959"/>
          </a:solidFill>
          <a:latin typeface="+mn-lt"/>
          <a:ea typeface="ＭＳ Ｐゴシック" charset="-128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400" kern="1200">
          <a:solidFill>
            <a:srgbClr val="595959"/>
          </a:solidFill>
          <a:latin typeface="+mn-lt"/>
          <a:ea typeface="ＭＳ Ｐゴシック" charset="-128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ＭＳ Ｐゴシック" charset="-128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595959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uchofmodern.com/sales/boehm-stirling-d89dd4ed-63ab-4d56-833a-61584dff2c96/small-tattoo-motor-ebbe6f19-a230-407a-94f3-4cdf8fd43edd?open=1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odelengineeringwebsite.com/Ky-ko_fan_files/KY-KO-A3-SHEET-02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ygeros.org/151-en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rtbjCxHST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d.com/talks/alice_rawsthorn_pirates_nurses_and_other_rebel_designers/transcript?language=en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ctrTitle"/>
          </p:nvPr>
        </p:nvSpPr>
        <p:spPr>
          <a:xfrm>
            <a:off x="221484" y="4610592"/>
            <a:ext cx="8499475" cy="933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AU" sz="3200" dirty="0"/>
              <a:t>The aesthetics of </a:t>
            </a:r>
            <a:r>
              <a:rPr lang="en-AU" sz="3200" b="1" dirty="0"/>
              <a:t>designing</a:t>
            </a:r>
            <a:r>
              <a:rPr lang="en-AU" sz="3200" dirty="0"/>
              <a:t> an AI system.</a:t>
            </a:r>
            <a:br>
              <a:rPr lang="en-AU" sz="3200" dirty="0"/>
            </a:br>
            <a:br>
              <a:rPr lang="en-AU" sz="3200" dirty="0"/>
            </a:br>
            <a:endParaRPr lang="en-GB" sz="1800" i="1" dirty="0">
              <a:ea typeface="ＭＳ Ｐゴシック" panose="020B0600070205080204" pitchFamily="34" charset="-128"/>
            </a:endParaRPr>
          </a:p>
        </p:txBody>
      </p:sp>
      <p:pic>
        <p:nvPicPr>
          <p:cNvPr id="6" name="Picture 4" descr="the gir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62" y="1038459"/>
            <a:ext cx="3074389" cy="2561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mall Tattoo Motor (Assembled // Dark Base) - Boehm Stirling ...">
            <a:extLst>
              <a:ext uri="{FF2B5EF4-FFF2-40B4-BE49-F238E27FC236}">
                <a16:creationId xmlns:a16="http://schemas.microsoft.com/office/drawing/2014/main" id="{7FD87C64-9B0B-44CA-986A-7BC234F20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607" y="5017243"/>
            <a:ext cx="1235319" cy="1235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2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pic>
        <p:nvPicPr>
          <p:cNvPr id="5122" name="Picture 2" descr="Small Tattoo Motor (Assembled // Dark Base) - Boehm Stirling ...">
            <a:extLst>
              <a:ext uri="{FF2B5EF4-FFF2-40B4-BE49-F238E27FC236}">
                <a16:creationId xmlns:a16="http://schemas.microsoft.com/office/drawing/2014/main" id="{44DEA372-40AF-4F53-BF89-CD6949CB1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987" y="1995853"/>
            <a:ext cx="4735390" cy="473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F39C9E79-D500-47A1-8072-0550A7AA2198}"/>
              </a:ext>
            </a:extLst>
          </p:cNvPr>
          <p:cNvSpPr/>
          <p:nvPr/>
        </p:nvSpPr>
        <p:spPr>
          <a:xfrm>
            <a:off x="1639891" y="6235312"/>
            <a:ext cx="61720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Source: </a:t>
            </a:r>
            <a:r>
              <a:rPr lang="en-US" sz="1200" dirty="0">
                <a:hlinkClick r:id="rId3"/>
              </a:rPr>
              <a:t>https://www.touchofmodern.com/sales/boehm-stirling-d89dd4ed-63ab-4d56-833a-61584dff2c96/small-tattoo-motor-ebbe6f19-a230-407a-94f3-4cdf8fd43edd?open=1</a:t>
            </a:r>
            <a:endParaRPr lang="he-IL" sz="1200" i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8965A33-FCF2-44D4-A95E-FF0BECD3690C}"/>
              </a:ext>
            </a:extLst>
          </p:cNvPr>
          <p:cNvSpPr txBox="1">
            <a:spLocks/>
          </p:cNvSpPr>
          <p:nvPr/>
        </p:nvSpPr>
        <p:spPr bwMode="auto">
          <a:xfrm>
            <a:off x="650875" y="6365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</a:defRPr>
            </a:lvl9pPr>
          </a:lstStyle>
          <a:p>
            <a:pPr defTabSz="914400"/>
            <a:r>
              <a:rPr lang="en-US">
                <a:ea typeface="ＭＳ Ｐゴシック" panose="020B0600070205080204" pitchFamily="34" charset="-128"/>
              </a:rPr>
              <a:t>“What is beautiful is usable”</a:t>
            </a:r>
            <a:endParaRPr 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5697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The explosion of knowledge and data.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3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F39C9E79-D500-47A1-8072-0550A7AA2198}"/>
              </a:ext>
            </a:extLst>
          </p:cNvPr>
          <p:cNvSpPr/>
          <p:nvPr/>
        </p:nvSpPr>
        <p:spPr>
          <a:xfrm>
            <a:off x="1510141" y="6373812"/>
            <a:ext cx="617207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hlinkClick r:id="rId2"/>
              </a:rPr>
              <a:t>Source: https://modelengineeringwebsite.com/Ky-ko_fan_files/KY-KO-A3-SHEET-02.pdf</a:t>
            </a:r>
            <a:endParaRPr lang="he-IL" sz="1200" i="1" dirty="0"/>
          </a:p>
        </p:txBody>
      </p:sp>
      <p:pic>
        <p:nvPicPr>
          <p:cNvPr id="4098" name="Picture 2" descr="https://modelengineeringwebsite.com/Ky-ko_fan_files/shapeimage_3.png">
            <a:extLst>
              <a:ext uri="{FF2B5EF4-FFF2-40B4-BE49-F238E27FC236}">
                <a16:creationId xmlns:a16="http://schemas.microsoft.com/office/drawing/2014/main" id="{2B983B2E-D240-464C-8E60-91E5EAD5A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141" y="2000250"/>
            <a:ext cx="6123717" cy="432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1270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>
                <a:ea typeface="ＭＳ Ｐゴシック" panose="020B0600070205080204" pitchFamily="34" charset="-128"/>
              </a:rPr>
              <a:t>Learning outcomes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259595" y="1981200"/>
            <a:ext cx="8543441" cy="4683071"/>
          </a:xfrm>
        </p:spPr>
        <p:txBody>
          <a:bodyPr/>
          <a:lstStyle/>
          <a:p>
            <a:r>
              <a:rPr lang="en-NZ" sz="3200" dirty="0">
                <a:ea typeface="ＭＳ Ｐゴシック" panose="020B0600070205080204" pitchFamily="34" charset="-128"/>
              </a:rPr>
              <a:t> To </a:t>
            </a:r>
            <a:r>
              <a:rPr lang="en-NZ" sz="3200" b="1" dirty="0">
                <a:ea typeface="ＭＳ Ｐゴシック" panose="020B0600070205080204" pitchFamily="34" charset="-128"/>
              </a:rPr>
              <a:t>ignite</a:t>
            </a:r>
            <a:r>
              <a:rPr lang="en-NZ" sz="3200" dirty="0">
                <a:ea typeface="ＭＳ Ｐゴシック" panose="020B0600070205080204" pitchFamily="34" charset="-128"/>
              </a:rPr>
              <a:t> critical creative thinking about your next AI design project.</a:t>
            </a:r>
          </a:p>
          <a:p>
            <a:r>
              <a:rPr lang="en-NZ" sz="3200" dirty="0">
                <a:ea typeface="ＭＳ Ｐゴシック" panose="020B0600070205080204" pitchFamily="34" charset="-128"/>
              </a:rPr>
              <a:t>What is the principle of </a:t>
            </a:r>
            <a:r>
              <a:rPr lang="en-NZ" sz="3200" b="1" dirty="0">
                <a:ea typeface="ＭＳ Ｐゴシック" panose="020B0600070205080204" pitchFamily="34" charset="-128"/>
              </a:rPr>
              <a:t>self explaining design</a:t>
            </a:r>
            <a:r>
              <a:rPr lang="en-NZ" sz="3200" dirty="0">
                <a:ea typeface="ＭＳ Ｐゴシック" panose="020B0600070205080204" pitchFamily="34" charset="-128"/>
              </a:rPr>
              <a:t>, and how it applies to </a:t>
            </a:r>
            <a:r>
              <a:rPr lang="en-NZ" sz="3200" b="1" dirty="0">
                <a:ea typeface="ＭＳ Ｐゴシック" panose="020B0600070205080204" pitchFamily="34" charset="-128"/>
              </a:rPr>
              <a:t>AI</a:t>
            </a:r>
            <a:r>
              <a:rPr lang="en-NZ" sz="3200" dirty="0">
                <a:ea typeface="ＭＳ Ｐゴシック" panose="020B0600070205080204" pitchFamily="34" charset="-128"/>
              </a:rPr>
              <a:t>?</a:t>
            </a:r>
          </a:p>
          <a:p>
            <a:r>
              <a:rPr lang="en-NZ" sz="3200" dirty="0">
                <a:ea typeface="ＭＳ Ｐゴシック" panose="020B0600070205080204" pitchFamily="34" charset="-128"/>
              </a:rPr>
              <a:t>Can we use </a:t>
            </a:r>
            <a:r>
              <a:rPr lang="en-NZ" sz="3200" b="1" dirty="0">
                <a:ea typeface="ＭＳ Ｐゴシック" panose="020B0600070205080204" pitchFamily="34" charset="-128"/>
              </a:rPr>
              <a:t>old</a:t>
            </a:r>
            <a:r>
              <a:rPr lang="en-NZ" sz="3200" dirty="0">
                <a:ea typeface="ＭＳ Ｐゴシック" panose="020B0600070205080204" pitchFamily="34" charset="-128"/>
              </a:rPr>
              <a:t> templates / blue-prints for </a:t>
            </a:r>
            <a:r>
              <a:rPr lang="en-NZ" sz="3200" b="1" dirty="0">
                <a:ea typeface="ＭＳ Ｐゴシック" panose="020B0600070205080204" pitchFamily="34" charset="-128"/>
              </a:rPr>
              <a:t>new</a:t>
            </a:r>
            <a:r>
              <a:rPr lang="en-NZ" sz="3200" dirty="0">
                <a:ea typeface="ＭＳ Ｐゴシック" panose="020B0600070205080204" pitchFamily="34" charset="-128"/>
              </a:rPr>
              <a:t> design projects?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4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“What is beautiful is usable”</a:t>
            </a:r>
            <a:br>
              <a:rPr lang="en-US" dirty="0">
                <a:ea typeface="ＭＳ Ｐゴシック" panose="020B0600070205080204" pitchFamily="34" charset="-128"/>
              </a:rPr>
            </a:br>
            <a:r>
              <a:rPr lang="en-US" sz="1800" dirty="0">
                <a:ea typeface="ＭＳ Ｐゴシック" panose="020B0600070205080204" pitchFamily="34" charset="-128"/>
              </a:rPr>
              <a:t>(But it is not always the case!)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369175" cy="4521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>
                <a:ea typeface="ＭＳ Ｐゴシック" panose="020B0600070205080204" pitchFamily="34" charset="-128"/>
              </a:rPr>
              <a:t>In the UI / Mechanical design, research suggests that </a:t>
            </a:r>
            <a:r>
              <a:rPr lang="en-US" sz="2400" b="1" dirty="0">
                <a:ea typeface="ＭＳ Ｐゴシック" panose="020B0600070205080204" pitchFamily="34" charset="-128"/>
              </a:rPr>
              <a:t>visual aesthetics affects user’s perception </a:t>
            </a:r>
            <a:r>
              <a:rPr lang="en-US" sz="2400" dirty="0">
                <a:ea typeface="ＭＳ Ｐゴシック" panose="020B0600070205080204" pitchFamily="34" charset="-128"/>
              </a:rPr>
              <a:t>of the system.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ea typeface="ＭＳ Ｐゴシック" panose="020B0600070205080204" pitchFamily="34" charset="-128"/>
              </a:rPr>
              <a:t>An aesthetically pleasing design is </a:t>
            </a:r>
            <a:r>
              <a:rPr lang="en-US" sz="2400" b="1" dirty="0">
                <a:ea typeface="ＭＳ Ｐゴシック" panose="020B0600070205080204" pitchFamily="34" charset="-128"/>
              </a:rPr>
              <a:t>perceived</a:t>
            </a:r>
            <a:r>
              <a:rPr lang="en-US" sz="2400" dirty="0">
                <a:ea typeface="ＭＳ Ｐゴシック" panose="020B0600070205080204" pitchFamily="34" charset="-128"/>
              </a:rPr>
              <a:t> as 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ea typeface="ＭＳ Ｐゴシック" panose="020B0600070205080204" pitchFamily="34" charset="-128"/>
              </a:rPr>
              <a:t>More </a:t>
            </a:r>
            <a:r>
              <a:rPr lang="en-US" sz="2400" b="1" dirty="0">
                <a:ea typeface="ＭＳ Ｐゴシック" panose="020B0600070205080204" pitchFamily="34" charset="-128"/>
              </a:rPr>
              <a:t>usable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ea typeface="ＭＳ Ｐゴシック" panose="020B0600070205080204" pitchFamily="34" charset="-128"/>
              </a:rPr>
              <a:t>More </a:t>
            </a:r>
            <a:r>
              <a:rPr lang="en-US" sz="2400" b="1" dirty="0">
                <a:ea typeface="ＭＳ Ｐゴシック" panose="020B0600070205080204" pitchFamily="34" charset="-128"/>
              </a:rPr>
              <a:t>trustworthy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ea typeface="ＭＳ Ｐゴシック" panose="020B0600070205080204" pitchFamily="34" charset="-128"/>
              </a:rPr>
              <a:t>More </a:t>
            </a:r>
            <a:r>
              <a:rPr lang="en-US" sz="2400" b="1" dirty="0">
                <a:ea typeface="ＭＳ Ｐゴシック" panose="020B0600070205080204" pitchFamily="34" charset="-128"/>
              </a:rPr>
              <a:t>tolerant </a:t>
            </a:r>
            <a:r>
              <a:rPr lang="en-US" sz="2400" dirty="0">
                <a:ea typeface="ＭＳ Ｐゴシック" panose="020B0600070205080204" pitchFamily="34" charset="-128"/>
              </a:rPr>
              <a:t>to user mistakes</a:t>
            </a:r>
            <a:endParaRPr lang="en-US" sz="2700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ea typeface="ＭＳ Ｐゴシック" panose="020B0600070205080204" pitchFamily="34" charset="-128"/>
              </a:rPr>
              <a:t>In a world of </a:t>
            </a:r>
            <a:r>
              <a:rPr lang="en-US" sz="2400" b="1" dirty="0">
                <a:ea typeface="ＭＳ Ｐゴシック" panose="020B0600070205080204" pitchFamily="34" charset="-128"/>
              </a:rPr>
              <a:t>fast model inference via an API </a:t>
            </a:r>
            <a:r>
              <a:rPr lang="en-US" sz="2400" dirty="0">
                <a:ea typeface="ＭＳ Ｐゴシック" panose="020B0600070205080204" pitchFamily="34" charset="-128"/>
              </a:rPr>
              <a:t>this is highly important.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ea typeface="ＭＳ Ｐゴシック" panose="020B0600070205080204" pitchFamily="34" charset="-128"/>
              </a:rPr>
              <a:t>Its also important if your product is an </a:t>
            </a:r>
            <a:r>
              <a:rPr lang="en-US" sz="2400" b="1" dirty="0">
                <a:ea typeface="ＭＳ Ｐゴシック" panose="020B0600070205080204" pitchFamily="34" charset="-128"/>
              </a:rPr>
              <a:t>AI system</a:t>
            </a:r>
            <a:r>
              <a:rPr lang="en-US" sz="2400" dirty="0">
                <a:ea typeface="ＭＳ Ｐゴシック" panose="020B0600070205080204" pitchFamily="34" charset="-128"/>
              </a:rPr>
              <a:t>. 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ea typeface="ＭＳ Ｐゴシック" panose="020B0600070205080204" pitchFamily="34" charset="-128"/>
              </a:rPr>
              <a:t>A beautiful </a:t>
            </a:r>
            <a:r>
              <a:rPr lang="en-US" sz="2400" b="1" dirty="0">
                <a:ea typeface="ＭＳ Ｐゴシック" panose="020B0600070205080204" pitchFamily="34" charset="-128"/>
              </a:rPr>
              <a:t>API</a:t>
            </a:r>
            <a:r>
              <a:rPr lang="en-US" sz="2400" dirty="0">
                <a:ea typeface="ＭＳ Ｐゴシック" panose="020B0600070205080204" pitchFamily="34" charset="-128"/>
              </a:rPr>
              <a:t> of an AI product will have an immediate advantage over its rivals. 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A8D38A9-F0BC-4406-AD2D-C14222E55279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5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32773" name="Text Placeholder 4"/>
          <p:cNvSpPr txBox="1">
            <a:spLocks/>
          </p:cNvSpPr>
          <p:nvPr/>
        </p:nvSpPr>
        <p:spPr bwMode="auto">
          <a:xfrm>
            <a:off x="0" y="1130300"/>
            <a:ext cx="755967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58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algn="r" defTabSz="914400">
              <a:spcBef>
                <a:spcPts val="2000"/>
              </a:spcBef>
              <a:buClr>
                <a:schemeClr val="accent1"/>
              </a:buClr>
              <a:buSzPct val="75000"/>
            </a:pPr>
            <a:r>
              <a:rPr lang="en-US" sz="2000" dirty="0" err="1">
                <a:solidFill>
                  <a:srgbClr val="B465BB"/>
                </a:solidFill>
                <a:latin typeface="Rockwell" panose="02060603020205020403" pitchFamily="18" charset="0"/>
              </a:rPr>
              <a:t>Tractinsky</a:t>
            </a:r>
            <a:r>
              <a:rPr lang="en-US" sz="2000" dirty="0">
                <a:solidFill>
                  <a:srgbClr val="B465BB"/>
                </a:solidFill>
                <a:latin typeface="Rockwell" panose="02060603020205020403" pitchFamily="18" charset="0"/>
              </a:rPr>
              <a:t>, et al. (2000)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Design Quiz: what is being asked here?</a:t>
            </a:r>
            <a:br>
              <a:rPr lang="en-NZ" dirty="0">
                <a:ea typeface="ＭＳ Ｐゴシック" panose="020B0600070205080204" pitchFamily="34" charset="-128"/>
              </a:rPr>
            </a:br>
            <a:endParaRPr lang="en-NZ" sz="2000" i="1" dirty="0">
              <a:ea typeface="ＭＳ Ｐゴシック" panose="020B0600070205080204" pitchFamily="34" charset="-128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6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6397" y="5926495"/>
            <a:ext cx="8543441" cy="7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NZ" sz="3200" dirty="0">
                <a:ea typeface="ＭＳ Ｐゴシック" panose="020B0600070205080204" pitchFamily="34" charset="-128"/>
              </a:rPr>
              <a:t>Is this question </a:t>
            </a:r>
            <a:r>
              <a:rPr lang="en-NZ" sz="3200" b="1" dirty="0">
                <a:ea typeface="ＭＳ Ｐゴシック" panose="020B0600070205080204" pitchFamily="34" charset="-128"/>
              </a:rPr>
              <a:t>self explanatory</a:t>
            </a:r>
            <a:r>
              <a:rPr lang="en-NZ" sz="3200" dirty="0">
                <a:ea typeface="ＭＳ Ｐゴシック" panose="020B0600070205080204" pitchFamily="34" charset="-128"/>
              </a:rPr>
              <a:t>???</a:t>
            </a:r>
          </a:p>
        </p:txBody>
      </p:sp>
      <p:pic>
        <p:nvPicPr>
          <p:cNvPr id="1026" name="Picture 2" descr="https://lygeros.org/wp-content/uploads/root/Images/item1.jpg">
            <a:extLst>
              <a:ext uri="{FF2B5EF4-FFF2-40B4-BE49-F238E27FC236}">
                <a16:creationId xmlns:a16="http://schemas.microsoft.com/office/drawing/2014/main" id="{7DE0F05D-5787-4641-AA50-26F1090FF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725" y="2680065"/>
            <a:ext cx="2834053" cy="212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אליפסה 4">
            <a:extLst>
              <a:ext uri="{FF2B5EF4-FFF2-40B4-BE49-F238E27FC236}">
                <a16:creationId xmlns:a16="http://schemas.microsoft.com/office/drawing/2014/main" id="{C5C52C24-9549-4AF2-86CC-91F4CCCBD930}"/>
              </a:ext>
            </a:extLst>
          </p:cNvPr>
          <p:cNvSpPr/>
          <p:nvPr/>
        </p:nvSpPr>
        <p:spPr>
          <a:xfrm>
            <a:off x="3965331" y="3578468"/>
            <a:ext cx="413238" cy="303335"/>
          </a:xfrm>
          <a:prstGeom prst="ellips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9089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Design Quiz: what is being asked here?</a:t>
            </a:r>
            <a:br>
              <a:rPr lang="en-NZ" dirty="0">
                <a:ea typeface="ＭＳ Ｐゴシック" panose="020B0600070205080204" pitchFamily="34" charset="-128"/>
              </a:rPr>
            </a:br>
            <a:r>
              <a:rPr lang="en-NZ" sz="1800" i="1" dirty="0">
                <a:ea typeface="ＭＳ Ｐゴシック" panose="020B0600070205080204" pitchFamily="34" charset="-128"/>
              </a:rPr>
              <a:t>Domain = Extremely difficult IQ tests.</a:t>
            </a:r>
            <a:endParaRPr lang="en-NZ" sz="1800" dirty="0">
              <a:ea typeface="ＭＳ Ｐゴシック" panose="020B0600070205080204" pitchFamily="34" charset="-128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7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6397" y="5926495"/>
            <a:ext cx="8543441" cy="7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NZ" sz="3200" dirty="0">
                <a:ea typeface="ＭＳ Ｐゴシック" panose="020B0600070205080204" pitchFamily="34" charset="-128"/>
              </a:rPr>
              <a:t>And </a:t>
            </a:r>
            <a:r>
              <a:rPr lang="en-NZ" sz="3200" dirty="0">
                <a:highlight>
                  <a:srgbClr val="00FF00"/>
                </a:highlight>
                <a:ea typeface="ＭＳ Ｐゴシック" panose="020B0600070205080204" pitchFamily="34" charset="-128"/>
              </a:rPr>
              <a:t>now</a:t>
            </a:r>
            <a:r>
              <a:rPr lang="en-NZ" sz="3200" dirty="0">
                <a:ea typeface="ＭＳ Ｐゴシック" panose="020B0600070205080204" pitchFamily="34" charset="-128"/>
              </a:rPr>
              <a:t>???</a:t>
            </a:r>
          </a:p>
        </p:txBody>
      </p:sp>
      <p:pic>
        <p:nvPicPr>
          <p:cNvPr id="1026" name="Picture 2" descr="https://lygeros.org/wp-content/uploads/root/Images/item1.jpg">
            <a:extLst>
              <a:ext uri="{FF2B5EF4-FFF2-40B4-BE49-F238E27FC236}">
                <a16:creationId xmlns:a16="http://schemas.microsoft.com/office/drawing/2014/main" id="{7DE0F05D-5787-4641-AA50-26F1090FF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725" y="2680065"/>
            <a:ext cx="2834053" cy="212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A7F9CB-75AD-47E4-B8A2-223F1771959D}"/>
              </a:ext>
            </a:extLst>
          </p:cNvPr>
          <p:cNvSpPr txBox="1"/>
          <p:nvPr/>
        </p:nvSpPr>
        <p:spPr>
          <a:xfrm>
            <a:off x="2678725" y="4998427"/>
            <a:ext cx="496778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i="1" dirty="0"/>
              <a:t>Source: </a:t>
            </a:r>
            <a:r>
              <a:rPr lang="en-US" sz="1200" i="1" u="sng" dirty="0">
                <a:hlinkClick r:id="rId4"/>
              </a:rPr>
              <a:t>The Eureka Test - Opus of N. </a:t>
            </a:r>
            <a:r>
              <a:rPr lang="en-US" sz="1200" i="1" u="sng" dirty="0" err="1">
                <a:hlinkClick r:id="rId4"/>
              </a:rPr>
              <a:t>Lygeros</a:t>
            </a:r>
            <a:endParaRPr lang="he-IL" sz="1200" i="1" dirty="0"/>
          </a:p>
        </p:txBody>
      </p:sp>
    </p:spTree>
    <p:extLst>
      <p:ext uri="{BB962C8B-B14F-4D97-AF65-F5344CB8AC3E}">
        <p14:creationId xmlns:p14="http://schemas.microsoft.com/office/powerpoint/2010/main" val="492214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Design Quiz: what is being asked here?</a:t>
            </a:r>
            <a:br>
              <a:rPr lang="en-NZ" dirty="0">
                <a:ea typeface="ＭＳ Ｐゴシック" panose="020B0600070205080204" pitchFamily="34" charset="-128"/>
              </a:rPr>
            </a:br>
            <a:endParaRPr lang="en-NZ" dirty="0">
              <a:ea typeface="ＭＳ Ｐゴシック" panose="020B0600070205080204" pitchFamily="34" charset="-128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8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80337" y="2657539"/>
            <a:ext cx="5583325" cy="2090308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6397" y="5926495"/>
            <a:ext cx="8543441" cy="7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NZ" sz="3200" dirty="0">
                <a:ea typeface="ＭＳ Ｐゴシック" panose="020B0600070205080204" pitchFamily="34" charset="-128"/>
              </a:rPr>
              <a:t>Is this question </a:t>
            </a:r>
            <a:r>
              <a:rPr lang="en-NZ" sz="3200" b="1" dirty="0">
                <a:ea typeface="ＭＳ Ｐゴシック" panose="020B0600070205080204" pitchFamily="34" charset="-128"/>
              </a:rPr>
              <a:t>self explanatory</a:t>
            </a:r>
            <a:r>
              <a:rPr lang="en-NZ" sz="3200" dirty="0">
                <a:ea typeface="ＭＳ Ｐゴシック" panose="020B0600070205080204" pitchFamily="34" charset="-128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1556935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Design Quiz: what is being asked here?</a:t>
            </a:r>
            <a:br>
              <a:rPr lang="en-NZ" dirty="0">
                <a:ea typeface="ＭＳ Ｐゴシック" panose="020B0600070205080204" pitchFamily="34" charset="-128"/>
              </a:rPr>
            </a:br>
            <a:r>
              <a:rPr lang="en-NZ" sz="1800" i="1" dirty="0">
                <a:ea typeface="ＭＳ Ｐゴシック" panose="020B0600070205080204" pitchFamily="34" charset="-128"/>
              </a:rPr>
              <a:t>Domain = Automatic Differentiation</a:t>
            </a:r>
            <a:endParaRPr lang="en-NZ" sz="1800" dirty="0">
              <a:ea typeface="ＭＳ Ｐゴシック" panose="020B0600070205080204" pitchFamily="34" charset="-128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9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0679" y="2626766"/>
            <a:ext cx="5160598" cy="1932046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6397" y="5926495"/>
            <a:ext cx="8543441" cy="7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NZ" sz="3200" dirty="0">
                <a:ea typeface="ＭＳ Ｐゴシック" panose="020B0600070205080204" pitchFamily="34" charset="-128"/>
              </a:rPr>
              <a:t>And </a:t>
            </a:r>
            <a:r>
              <a:rPr lang="en-NZ" sz="3200" dirty="0">
                <a:highlight>
                  <a:srgbClr val="00FF00"/>
                </a:highlight>
                <a:ea typeface="ＭＳ Ｐゴシック" panose="020B0600070205080204" pitchFamily="34" charset="-128"/>
              </a:rPr>
              <a:t>now</a:t>
            </a:r>
            <a:r>
              <a:rPr lang="en-NZ" sz="3200" dirty="0">
                <a:ea typeface="ＭＳ Ｐゴシック" panose="020B0600070205080204" pitchFamily="34" charset="-128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200395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Design Quiz: what is wrong here?</a:t>
            </a:r>
            <a:br>
              <a:rPr lang="en-NZ" dirty="0">
                <a:ea typeface="ＭＳ Ｐゴシック" panose="020B0600070205080204" pitchFamily="34" charset="-128"/>
              </a:rPr>
            </a:br>
            <a:r>
              <a:rPr lang="en-NZ" sz="1800" i="1" dirty="0">
                <a:ea typeface="ＭＳ Ｐゴシック" panose="020B0600070205080204" pitchFamily="34" charset="-128"/>
              </a:rPr>
              <a:t>Domain = Male Vs female design</a:t>
            </a:r>
            <a:endParaRPr lang="en-NZ" sz="1800" dirty="0">
              <a:ea typeface="ＭＳ Ｐゴシック" panose="020B0600070205080204" pitchFamily="34" charset="-128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10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00279" y="5686138"/>
            <a:ext cx="8543441" cy="7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NZ" sz="3200" dirty="0">
                <a:ea typeface="ＭＳ Ｐゴシック" panose="020B0600070205080204" pitchFamily="34" charset="-128"/>
              </a:rPr>
              <a:t>Which design is better? The </a:t>
            </a:r>
            <a:r>
              <a:rPr lang="en-NZ" sz="3200" b="1" dirty="0">
                <a:ea typeface="ＭＳ Ｐゴシック" panose="020B0600070205080204" pitchFamily="34" charset="-128"/>
              </a:rPr>
              <a:t>second</a:t>
            </a:r>
            <a:r>
              <a:rPr lang="en-NZ" sz="3200" dirty="0">
                <a:ea typeface="ＭＳ Ｐゴシック" panose="020B0600070205080204" pitchFamily="34" charset="-128"/>
              </a:rPr>
              <a:t> unless you want to </a:t>
            </a:r>
            <a:r>
              <a:rPr lang="en-NZ" sz="3200" dirty="0">
                <a:highlight>
                  <a:srgbClr val="00FF00"/>
                </a:highlight>
                <a:ea typeface="ＭＳ Ｐゴシック" panose="020B0600070205080204" pitchFamily="34" charset="-128"/>
              </a:rPr>
              <a:t>burn</a:t>
            </a:r>
            <a:r>
              <a:rPr lang="en-NZ" sz="3200" dirty="0">
                <a:ea typeface="ＭＳ Ｐゴシック" panose="020B0600070205080204" pitchFamily="34" charset="-128"/>
              </a:rPr>
              <a:t> your hands!</a:t>
            </a:r>
          </a:p>
        </p:txBody>
      </p:sp>
      <p:pic>
        <p:nvPicPr>
          <p:cNvPr id="8" name="Picture 4" descr="(picture of bad range)">
            <a:extLst>
              <a:ext uri="{FF2B5EF4-FFF2-40B4-BE49-F238E27FC236}">
                <a16:creationId xmlns:a16="http://schemas.microsoft.com/office/drawing/2014/main" id="{ECBB8AE1-A24D-4C96-A3AB-7C121588A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110" y="2447419"/>
            <a:ext cx="2438765" cy="1759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 descr="(picture of good range)">
            <a:extLst>
              <a:ext uri="{FF2B5EF4-FFF2-40B4-BE49-F238E27FC236}">
                <a16:creationId xmlns:a16="http://schemas.microsoft.com/office/drawing/2014/main" id="{245BEB25-29AD-4291-B689-78586778D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97" y="4742295"/>
            <a:ext cx="2836312" cy="78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 descr="https://i.insider.com/58124ad2dd089541098b4ae6?width=600&amp;format=jpeg&amp;auto=webp">
            <a:extLst>
              <a:ext uri="{FF2B5EF4-FFF2-40B4-BE49-F238E27FC236}">
                <a16:creationId xmlns:a16="http://schemas.microsoft.com/office/drawing/2014/main" id="{8CEC7EC4-7466-4153-A878-D1E2A7A21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18386">
            <a:off x="6145823" y="3429000"/>
            <a:ext cx="1674935" cy="125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341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Design Quiz: </a:t>
            </a:r>
            <a:r>
              <a:rPr lang="en-NZ" sz="2400" dirty="0">
                <a:ea typeface="ＭＳ Ｐゴシック" panose="020B0600070205080204" pitchFamily="34" charset="-128"/>
              </a:rPr>
              <a:t>Would you let your dentist choose a colour </a:t>
            </a:r>
            <a:r>
              <a:rPr lang="en-NZ" sz="2400" b="1" dirty="0">
                <a:ea typeface="ＭＳ Ｐゴシック" panose="020B0600070205080204" pitchFamily="34" charset="-128"/>
              </a:rPr>
              <a:t>without</a:t>
            </a:r>
            <a:r>
              <a:rPr lang="en-NZ" sz="2400" dirty="0">
                <a:ea typeface="ＭＳ Ｐゴシック" panose="020B0600070205080204" pitchFamily="34" charset="-128"/>
              </a:rPr>
              <a:t> </a:t>
            </a:r>
            <a:r>
              <a:rPr lang="en-NZ" sz="2400" dirty="0">
                <a:highlight>
                  <a:srgbClr val="00FF00"/>
                </a:highlight>
                <a:ea typeface="ＭＳ Ｐゴシック" panose="020B0600070205080204" pitchFamily="34" charset="-128"/>
              </a:rPr>
              <a:t>examining</a:t>
            </a:r>
            <a:r>
              <a:rPr lang="en-NZ" sz="2400" dirty="0">
                <a:ea typeface="ＭＳ Ｐゴシック" panose="020B0600070205080204" pitchFamily="34" charset="-128"/>
              </a:rPr>
              <a:t> your mouth?</a:t>
            </a:r>
            <a:br>
              <a:rPr lang="en-NZ" sz="2400" dirty="0">
                <a:ea typeface="ＭＳ Ｐゴシック" panose="020B0600070205080204" pitchFamily="34" charset="-128"/>
              </a:rPr>
            </a:br>
            <a:r>
              <a:rPr lang="en-NZ" sz="1800" i="1" dirty="0">
                <a:ea typeface="ＭＳ Ｐゴシック" panose="020B0600070205080204" pitchFamily="34" charset="-128"/>
              </a:rPr>
              <a:t>Domain = Dental Veneers</a:t>
            </a:r>
            <a:endParaRPr lang="en-NZ" sz="1800" dirty="0">
              <a:ea typeface="ＭＳ Ｐゴシック" panose="020B0600070205080204" pitchFamily="34" charset="-128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11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6397" y="5620538"/>
            <a:ext cx="8543441" cy="7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NZ" sz="2800" dirty="0">
                <a:ea typeface="ＭＳ Ｐゴシック" panose="020B0600070205080204" pitchFamily="34" charset="-128"/>
              </a:rPr>
              <a:t>So why would you design an </a:t>
            </a:r>
            <a:r>
              <a:rPr lang="en-NZ" sz="2800" b="1" dirty="0">
                <a:ea typeface="ＭＳ Ｐゴシック" panose="020B0600070205080204" pitchFamily="34" charset="-128"/>
              </a:rPr>
              <a:t>AI</a:t>
            </a:r>
            <a:r>
              <a:rPr lang="en-NZ" sz="2800" dirty="0">
                <a:ea typeface="ＭＳ Ｐゴシック" panose="020B0600070205080204" pitchFamily="34" charset="-128"/>
              </a:rPr>
              <a:t> </a:t>
            </a:r>
            <a:r>
              <a:rPr lang="en-NZ" sz="2800" b="1" dirty="0">
                <a:ea typeface="ＭＳ Ｐゴシック" panose="020B0600070205080204" pitchFamily="34" charset="-128"/>
              </a:rPr>
              <a:t>system</a:t>
            </a:r>
            <a:r>
              <a:rPr lang="en-NZ" sz="2800" dirty="0">
                <a:ea typeface="ＭＳ Ｐゴシック" panose="020B0600070205080204" pitchFamily="34" charset="-128"/>
              </a:rPr>
              <a:t> without </a:t>
            </a:r>
            <a:r>
              <a:rPr lang="en-NZ" sz="2800" dirty="0">
                <a:highlight>
                  <a:srgbClr val="00FF00"/>
                </a:highlight>
                <a:ea typeface="ＭＳ Ｐゴシック" panose="020B0600070205080204" pitchFamily="34" charset="-128"/>
              </a:rPr>
              <a:t>examining</a:t>
            </a:r>
            <a:r>
              <a:rPr lang="en-NZ" sz="2800" dirty="0">
                <a:ea typeface="ＭＳ Ｐゴシック" panose="020B0600070205080204" pitchFamily="34" charset="-128"/>
              </a:rPr>
              <a:t> several models? </a:t>
            </a:r>
          </a:p>
        </p:txBody>
      </p:sp>
      <p:pic>
        <p:nvPicPr>
          <p:cNvPr id="7170" name="Picture 2" descr="https://heritageparkdental.com/wp-content/uploads/sites/344/2017/11/PorcelainVeneer-768x512.jpg.optimal.jpg">
            <a:extLst>
              <a:ext uri="{FF2B5EF4-FFF2-40B4-BE49-F238E27FC236}">
                <a16:creationId xmlns:a16="http://schemas.microsoft.com/office/drawing/2014/main" id="{71E99DF7-A99C-476E-846F-C0A17C85F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40" y="2483216"/>
            <a:ext cx="3407019" cy="2271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https://www.beautifulsmilesoflongisland.com/wp-content/uploads/2018/03/artdent-fogaszat-fogfeherites-1170x500.jpg">
            <a:extLst>
              <a:ext uri="{FF2B5EF4-FFF2-40B4-BE49-F238E27FC236}">
                <a16:creationId xmlns:a16="http://schemas.microsoft.com/office/drawing/2014/main" id="{17D31788-E394-4819-9712-558E77AC5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323" y="2483216"/>
            <a:ext cx="3841759" cy="164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מלבן: פינות עליונות חתוכות 1">
            <a:extLst>
              <a:ext uri="{FF2B5EF4-FFF2-40B4-BE49-F238E27FC236}">
                <a16:creationId xmlns:a16="http://schemas.microsoft.com/office/drawing/2014/main" id="{0399ABA8-E608-4AA1-ADAA-7E7A52F0472F}"/>
              </a:ext>
            </a:extLst>
          </p:cNvPr>
          <p:cNvSpPr/>
          <p:nvPr/>
        </p:nvSpPr>
        <p:spPr>
          <a:xfrm>
            <a:off x="4352929" y="4813787"/>
            <a:ext cx="922456" cy="328913"/>
          </a:xfrm>
          <a:prstGeom prst="snip2Same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ResNet</a:t>
            </a:r>
            <a:endParaRPr lang="he-IL" sz="1200" dirty="0"/>
          </a:p>
        </p:txBody>
      </p:sp>
      <p:sp>
        <p:nvSpPr>
          <p:cNvPr id="9" name="מלבן: פינות עליונות חתוכות 8">
            <a:extLst>
              <a:ext uri="{FF2B5EF4-FFF2-40B4-BE49-F238E27FC236}">
                <a16:creationId xmlns:a16="http://schemas.microsoft.com/office/drawing/2014/main" id="{C9219A3C-3753-44BF-AB7C-0B9CD1BCE7E5}"/>
              </a:ext>
            </a:extLst>
          </p:cNvPr>
          <p:cNvSpPr/>
          <p:nvPr/>
        </p:nvSpPr>
        <p:spPr>
          <a:xfrm>
            <a:off x="5429746" y="4804196"/>
            <a:ext cx="922456" cy="328913"/>
          </a:xfrm>
          <a:prstGeom prst="snip2Same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SeNet</a:t>
            </a:r>
            <a:endParaRPr lang="he-IL" sz="1200" dirty="0"/>
          </a:p>
        </p:txBody>
      </p:sp>
      <p:sp>
        <p:nvSpPr>
          <p:cNvPr id="10" name="מלבן: פינות עליונות חתוכות 9">
            <a:extLst>
              <a:ext uri="{FF2B5EF4-FFF2-40B4-BE49-F238E27FC236}">
                <a16:creationId xmlns:a16="http://schemas.microsoft.com/office/drawing/2014/main" id="{BC4B1DD8-99B5-4046-8B86-E79A5B649F04}"/>
              </a:ext>
            </a:extLst>
          </p:cNvPr>
          <p:cNvSpPr/>
          <p:nvPr/>
        </p:nvSpPr>
        <p:spPr>
          <a:xfrm>
            <a:off x="6589106" y="4813787"/>
            <a:ext cx="922456" cy="328913"/>
          </a:xfrm>
          <a:prstGeom prst="snip2Same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sz="1200" dirty="0"/>
              <a:t>DPN</a:t>
            </a:r>
            <a:endParaRPr lang="he-IL" sz="1200" dirty="0"/>
          </a:p>
        </p:txBody>
      </p:sp>
      <p:sp>
        <p:nvSpPr>
          <p:cNvPr id="11" name="מלבן: פינות עליונות חתוכות 10">
            <a:extLst>
              <a:ext uri="{FF2B5EF4-FFF2-40B4-BE49-F238E27FC236}">
                <a16:creationId xmlns:a16="http://schemas.microsoft.com/office/drawing/2014/main" id="{58C5FA46-CAAA-4170-9A75-F9172E8F657A}"/>
              </a:ext>
            </a:extLst>
          </p:cNvPr>
          <p:cNvSpPr/>
          <p:nvPr/>
        </p:nvSpPr>
        <p:spPr>
          <a:xfrm>
            <a:off x="7748466" y="4813786"/>
            <a:ext cx="922456" cy="328913"/>
          </a:xfrm>
          <a:prstGeom prst="snip2Same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sz="1200" dirty="0"/>
              <a:t>VGG11</a:t>
            </a:r>
            <a:endParaRPr lang="he-IL" sz="1200" dirty="0"/>
          </a:p>
        </p:txBody>
      </p:sp>
      <p:cxnSp>
        <p:nvCxnSpPr>
          <p:cNvPr id="4" name="מחבר: מרפקי 3">
            <a:extLst>
              <a:ext uri="{FF2B5EF4-FFF2-40B4-BE49-F238E27FC236}">
                <a16:creationId xmlns:a16="http://schemas.microsoft.com/office/drawing/2014/main" id="{B752A80B-41AB-43B9-99F3-90262BDC201E}"/>
              </a:ext>
            </a:extLst>
          </p:cNvPr>
          <p:cNvCxnSpPr>
            <a:stCxn id="2" idx="3"/>
          </p:cNvCxnSpPr>
          <p:nvPr/>
        </p:nvCxnSpPr>
        <p:spPr>
          <a:xfrm rot="16200000" flipV="1">
            <a:off x="4372160" y="4371790"/>
            <a:ext cx="786910" cy="970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מחבר: מרפקי 5">
            <a:extLst>
              <a:ext uri="{FF2B5EF4-FFF2-40B4-BE49-F238E27FC236}">
                <a16:creationId xmlns:a16="http://schemas.microsoft.com/office/drawing/2014/main" id="{6F68DB1E-C3F2-4B9B-9A7D-FDEF4103A761}"/>
              </a:ext>
            </a:extLst>
          </p:cNvPr>
          <p:cNvCxnSpPr/>
          <p:nvPr/>
        </p:nvCxnSpPr>
        <p:spPr>
          <a:xfrm rot="16200000" flipV="1">
            <a:off x="5110530" y="4191732"/>
            <a:ext cx="786911" cy="4572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מחבר: מרפקי 11">
            <a:extLst>
              <a:ext uri="{FF2B5EF4-FFF2-40B4-BE49-F238E27FC236}">
                <a16:creationId xmlns:a16="http://schemas.microsoft.com/office/drawing/2014/main" id="{2B89DBBA-918D-406E-B745-271CA835E639}"/>
              </a:ext>
            </a:extLst>
          </p:cNvPr>
          <p:cNvCxnSpPr>
            <a:cxnSpLocks/>
          </p:cNvCxnSpPr>
          <p:nvPr/>
        </p:nvCxnSpPr>
        <p:spPr>
          <a:xfrm rot="16200000" flipV="1">
            <a:off x="6219739" y="4159340"/>
            <a:ext cx="823481" cy="55855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מחבר: מרפקי 13">
            <a:extLst>
              <a:ext uri="{FF2B5EF4-FFF2-40B4-BE49-F238E27FC236}">
                <a16:creationId xmlns:a16="http://schemas.microsoft.com/office/drawing/2014/main" id="{7A707B9E-710F-44D9-806D-E5FBD3BD660B}"/>
              </a:ext>
            </a:extLst>
          </p:cNvPr>
          <p:cNvCxnSpPr/>
          <p:nvPr/>
        </p:nvCxnSpPr>
        <p:spPr>
          <a:xfrm rot="16200000" flipV="1">
            <a:off x="7348725" y="4165108"/>
            <a:ext cx="746241" cy="5319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849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Make sure your model generalises well by using augmentations</a:t>
            </a:r>
            <a:r>
              <a:rPr lang="en-NZ" sz="2400" dirty="0">
                <a:ea typeface="ＭＳ Ｐゴシック" panose="020B0600070205080204" pitchFamily="34" charset="-128"/>
              </a:rPr>
              <a:t>.</a:t>
            </a:r>
            <a:br>
              <a:rPr lang="en-NZ" sz="2400" dirty="0">
                <a:ea typeface="ＭＳ Ｐゴシック" panose="020B0600070205080204" pitchFamily="34" charset="-128"/>
              </a:rPr>
            </a:br>
            <a:r>
              <a:rPr lang="en-NZ" sz="1800" i="1" dirty="0">
                <a:ea typeface="ＭＳ Ｐゴシック" panose="020B0600070205080204" pitchFamily="34" charset="-128"/>
              </a:rPr>
              <a:t>Domain = Face Detection</a:t>
            </a:r>
            <a:endParaRPr lang="en-NZ" sz="1800" dirty="0">
              <a:ea typeface="ＭＳ Ｐゴシック" panose="020B0600070205080204" pitchFamily="34" charset="-128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12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6397" y="5620538"/>
            <a:ext cx="8543441" cy="7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NZ" sz="2800" dirty="0" err="1">
                <a:ea typeface="ＭＳ Ｐゴシック" panose="020B0600070205080204" pitchFamily="34" charset="-128"/>
              </a:rPr>
              <a:t>Albumentations</a:t>
            </a:r>
            <a:r>
              <a:rPr lang="en-NZ" sz="2800" dirty="0">
                <a:ea typeface="ＭＳ Ｐゴシック" panose="020B0600070205080204" pitchFamily="34" charset="-128"/>
              </a:rPr>
              <a:t> + </a:t>
            </a:r>
            <a:r>
              <a:rPr lang="en-NZ" sz="2800" dirty="0" err="1">
                <a:ea typeface="ＭＳ Ｐゴシック" panose="020B0600070205080204" pitchFamily="34" charset="-128"/>
              </a:rPr>
              <a:t>ImgAug</a:t>
            </a:r>
            <a:r>
              <a:rPr lang="en-NZ" sz="2800" dirty="0">
                <a:ea typeface="ＭＳ Ｐゴシック" panose="020B0600070205080204" pitchFamily="34" charset="-128"/>
              </a:rPr>
              <a:t> are Widley adopted in the industry</a:t>
            </a:r>
          </a:p>
        </p:txBody>
      </p:sp>
      <p:pic>
        <p:nvPicPr>
          <p:cNvPr id="9218" name="Picture 2" descr="https://warehouse-camo.ingress.cmh1.psfhosted.org/33990abceebc5fc46bc0b4278e09208c2630e388/68747470733a2f2f686162726173746f726167652e6f72672f776562742f652d2f366b2f7a2d2f652d366b7a2d66756770326865616b336a7a6e733362632d72386f2e6a706567">
            <a:extLst>
              <a:ext uri="{FF2B5EF4-FFF2-40B4-BE49-F238E27FC236}">
                <a16:creationId xmlns:a16="http://schemas.microsoft.com/office/drawing/2014/main" id="{37BBED03-625C-4443-B360-D4B24CC29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21" y="2043847"/>
            <a:ext cx="4502537" cy="344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elated image">
            <a:extLst>
              <a:ext uri="{FF2B5EF4-FFF2-40B4-BE49-F238E27FC236}">
                <a16:creationId xmlns:a16="http://schemas.microsoft.com/office/drawing/2014/main" id="{E09C83B5-6C53-48A1-822E-ACBB1971F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249" y="2755779"/>
            <a:ext cx="3783965" cy="237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085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Design Quiz: Is functionality important? Yes but … toxicity is too</a:t>
            </a:r>
            <a:br>
              <a:rPr lang="en-NZ" dirty="0">
                <a:ea typeface="ＭＳ Ｐゴシック" panose="020B0600070205080204" pitchFamily="34" charset="-128"/>
              </a:rPr>
            </a:br>
            <a:r>
              <a:rPr lang="en-NZ" sz="1800" i="1" dirty="0">
                <a:ea typeface="ＭＳ Ｐゴシック" panose="020B0600070205080204" pitchFamily="34" charset="-128"/>
              </a:rPr>
              <a:t>Domain = Dental Amalgams</a:t>
            </a:r>
            <a:endParaRPr lang="en-NZ" sz="1800" dirty="0">
              <a:ea typeface="ＭＳ Ｐゴシック" panose="020B0600070205080204" pitchFamily="34" charset="-128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13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6397" y="5926495"/>
            <a:ext cx="8543441" cy="7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NZ" sz="2400" dirty="0">
                <a:ea typeface="ＭＳ Ｐゴシック" panose="020B0600070205080204" pitchFamily="34" charset="-128"/>
              </a:rPr>
              <a:t>Functionally, these will last for a lifetime but there is a single </a:t>
            </a:r>
            <a:r>
              <a:rPr lang="en-NZ" sz="2400" b="1" dirty="0">
                <a:ea typeface="ＭＳ Ｐゴシック" panose="020B0600070205080204" pitchFamily="34" charset="-128"/>
              </a:rPr>
              <a:t>design</a:t>
            </a:r>
            <a:r>
              <a:rPr lang="en-NZ" sz="2400" dirty="0">
                <a:ea typeface="ＭＳ Ｐゴシック" panose="020B0600070205080204" pitchFamily="34" charset="-128"/>
              </a:rPr>
              <a:t> flow here … (</a:t>
            </a:r>
            <a:r>
              <a:rPr lang="en-NZ" sz="2400" b="1" dirty="0">
                <a:ea typeface="ＭＳ Ｐゴシック" panose="020B0600070205080204" pitchFamily="34" charset="-128"/>
                <a:hlinkClick r:id="rId3"/>
              </a:rPr>
              <a:t>Mercury</a:t>
            </a:r>
            <a:r>
              <a:rPr lang="en-NZ" sz="2400" dirty="0">
                <a:ea typeface="ＭＳ Ｐゴシック" panose="020B0600070205080204" pitchFamily="34" charset="-128"/>
              </a:rPr>
              <a:t>) (2 minutes)</a:t>
            </a:r>
          </a:p>
        </p:txBody>
      </p:sp>
      <p:pic>
        <p:nvPicPr>
          <p:cNvPr id="7172" name="Picture 4" descr="https://i.pinimg.com/originals/63/fc/98/63fc98c90719702d823f928e46b2a40b.jpg">
            <a:extLst>
              <a:ext uri="{FF2B5EF4-FFF2-40B4-BE49-F238E27FC236}">
                <a16:creationId xmlns:a16="http://schemas.microsoft.com/office/drawing/2014/main" id="{626050B8-C2D0-43F6-935D-0238359AF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77" y="2206926"/>
            <a:ext cx="4188808" cy="3398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Object detection: speed and accuracy comparison (Faster R-CNN, R ...">
            <a:extLst>
              <a:ext uri="{FF2B5EF4-FFF2-40B4-BE49-F238E27FC236}">
                <a16:creationId xmlns:a16="http://schemas.microsoft.com/office/drawing/2014/main" id="{DFDF5E59-3114-4FA0-A396-D5EC52787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147" y="2206926"/>
            <a:ext cx="3578025" cy="214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מלבן: פינות עליונות חתוכות 10">
            <a:extLst>
              <a:ext uri="{FF2B5EF4-FFF2-40B4-BE49-F238E27FC236}">
                <a16:creationId xmlns:a16="http://schemas.microsoft.com/office/drawing/2014/main" id="{7AB77AED-3B64-4434-8213-696BE07E545F}"/>
              </a:ext>
            </a:extLst>
          </p:cNvPr>
          <p:cNvSpPr/>
          <p:nvPr/>
        </p:nvSpPr>
        <p:spPr>
          <a:xfrm>
            <a:off x="5247463" y="4523636"/>
            <a:ext cx="3578025" cy="861652"/>
          </a:xfrm>
          <a:prstGeom prst="snip2Same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sz="1200" dirty="0"/>
              <a:t>There is never a “one size fits all” model -- we want a good model without drawbacks (Mercury ), white fillings cost much more but are not toxic. </a:t>
            </a:r>
            <a:endParaRPr lang="he-IL" sz="1200" dirty="0"/>
          </a:p>
        </p:txBody>
      </p:sp>
    </p:spTree>
    <p:extLst>
      <p:ext uri="{BB962C8B-B14F-4D97-AF65-F5344CB8AC3E}">
        <p14:creationId xmlns:p14="http://schemas.microsoft.com/office/powerpoint/2010/main" val="986093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498475" y="134938"/>
            <a:ext cx="7556500" cy="995362"/>
          </a:xfrm>
        </p:spPr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What guides an AI design?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8361363" cy="4144963"/>
          </a:xfrm>
        </p:spPr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Principles of design are concepts used to organize or arrange the components in an AI system design</a:t>
            </a:r>
          </a:p>
          <a:p>
            <a:r>
              <a:rPr lang="en-US" sz="3600" dirty="0">
                <a:ea typeface="ＭＳ Ｐゴシック" panose="020B0600070205080204" pitchFamily="34" charset="-128"/>
              </a:rPr>
              <a:t>Several important principles:</a:t>
            </a:r>
          </a:p>
          <a:p>
            <a:pPr lvl="1"/>
            <a:r>
              <a:rPr lang="en-US" sz="3600" dirty="0">
                <a:ea typeface="ＭＳ Ｐゴシック" panose="020B0600070205080204" pitchFamily="34" charset="-128"/>
              </a:rPr>
              <a:t>Clear set of </a:t>
            </a:r>
            <a:r>
              <a:rPr lang="en-US" sz="3600" b="1" dirty="0">
                <a:ea typeface="ＭＳ Ｐゴシック" panose="020B0600070205080204" pitchFamily="34" charset="-128"/>
              </a:rPr>
              <a:t>requirements</a:t>
            </a:r>
            <a:r>
              <a:rPr lang="en-US" sz="3600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sz="3600" dirty="0">
                <a:ea typeface="ＭＳ Ｐゴシック" panose="020B0600070205080204" pitchFamily="34" charset="-128"/>
              </a:rPr>
              <a:t>Highly detailed literature review with alternative </a:t>
            </a:r>
            <a:r>
              <a:rPr lang="en-US" sz="3600" b="1" dirty="0">
                <a:ea typeface="ＭＳ Ｐゴシック" panose="020B0600070205080204" pitchFamily="34" charset="-128"/>
              </a:rPr>
              <a:t>models</a:t>
            </a:r>
          </a:p>
          <a:p>
            <a:pPr lvl="1"/>
            <a:r>
              <a:rPr lang="en-US" sz="3600" b="1" dirty="0">
                <a:ea typeface="ＭＳ Ｐゴシック" panose="020B0600070205080204" pitchFamily="34" charset="-128"/>
              </a:rPr>
              <a:t>Modular</a:t>
            </a:r>
            <a:r>
              <a:rPr lang="en-US" sz="3600" dirty="0">
                <a:ea typeface="ＭＳ Ｐゴシック" panose="020B0600070205080204" pitchFamily="34" charset="-128"/>
              </a:rPr>
              <a:t> code (VS and not </a:t>
            </a:r>
            <a:r>
              <a:rPr lang="en-US" sz="3600" dirty="0" err="1">
                <a:ea typeface="ＭＳ Ｐゴシック" panose="020B0600070205080204" pitchFamily="34" charset="-128"/>
              </a:rPr>
              <a:t>Jupyter</a:t>
            </a:r>
            <a:r>
              <a:rPr lang="en-US" sz="3600" dirty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sz="3600" dirty="0">
                <a:ea typeface="ＭＳ Ｐゴシック" panose="020B0600070205080204" pitchFamily="34" charset="-128"/>
              </a:rPr>
              <a:t>Intuitive </a:t>
            </a:r>
            <a:r>
              <a:rPr lang="en-US" sz="3600" b="1" dirty="0">
                <a:ea typeface="ＭＳ Ｐゴシック" panose="020B0600070205080204" pitchFamily="34" charset="-128"/>
              </a:rPr>
              <a:t>API </a:t>
            </a:r>
            <a:r>
              <a:rPr lang="en-US" sz="3600" dirty="0">
                <a:ea typeface="ＭＳ Ｐゴシック" panose="020B0600070205080204" pitchFamily="34" charset="-128"/>
              </a:rPr>
              <a:t>and a minimal</a:t>
            </a:r>
            <a:r>
              <a:rPr lang="en-US" sz="3600" b="1" dirty="0">
                <a:ea typeface="ＭＳ Ｐゴシック" panose="020B0600070205080204" pitchFamily="34" charset="-128"/>
              </a:rPr>
              <a:t> UI</a:t>
            </a:r>
          </a:p>
          <a:p>
            <a:pPr lvl="1"/>
            <a:endParaRPr lang="en-US" sz="3600" dirty="0">
              <a:ea typeface="ＭＳ Ｐゴシック" panose="020B0600070205080204" pitchFamily="34" charset="-128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498475" y="1130300"/>
            <a:ext cx="7559675" cy="7747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666699"/>
                </a:solidFill>
                <a:ea typeface="ＭＳ Ｐゴシック" pitchFamily="34" charset="-128"/>
              </a:rPr>
              <a:t>Principles</a:t>
            </a:r>
          </a:p>
        </p:txBody>
      </p:sp>
      <p:sp>
        <p:nvSpPr>
          <p:cNvPr id="3379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79E70FD-BBAE-462B-8511-BCABFF1747A6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14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Is this a good design for persisting AI models? 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15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6397" y="5926495"/>
            <a:ext cx="8543441" cy="7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NZ" sz="3200" dirty="0">
                <a:ea typeface="ＭＳ Ｐゴシック" panose="020B0600070205080204" pitchFamily="34" charset="-128"/>
              </a:rPr>
              <a:t>Is there anything missing?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05" y="2527519"/>
            <a:ext cx="8161310" cy="295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23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Is this a good design for defining an AI model? 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16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6397" y="5926495"/>
            <a:ext cx="8543441" cy="7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NZ" sz="3200" dirty="0">
                <a:ea typeface="ＭＳ Ｐゴシック" panose="020B0600070205080204" pitchFamily="34" charset="-128"/>
              </a:rPr>
              <a:t>What is the design flow?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4143EA9E-049C-4264-9E4D-2FF870C95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36" y="2095521"/>
            <a:ext cx="5566630" cy="364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5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Is this a good design for defining augmentations for AI models? 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898CAA-FFCF-4999-A0AA-170421544388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17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16397" y="5926495"/>
            <a:ext cx="8543441" cy="7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NZ" sz="3200" dirty="0">
                <a:ea typeface="ＭＳ Ｐゴシック" panose="020B0600070205080204" pitchFamily="34" charset="-128"/>
              </a:rPr>
              <a:t>What is the design flow?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08D530FA-902D-4AAC-8411-BDC383DEB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76" y="2085986"/>
            <a:ext cx="3673316" cy="384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99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ea typeface="ＭＳ Ｐゴシック" panose="020B0600070205080204" pitchFamily="34" charset="-128"/>
              </a:rPr>
              <a:t>Further reading</a:t>
            </a:r>
          </a:p>
        </p:txBody>
      </p:sp>
      <p:sp>
        <p:nvSpPr>
          <p:cNvPr id="39939" name="Content Placeholder 6"/>
          <p:cNvSpPr>
            <a:spLocks noGrp="1"/>
          </p:cNvSpPr>
          <p:nvPr>
            <p:ph sz="half" idx="1"/>
          </p:nvPr>
        </p:nvSpPr>
        <p:spPr>
          <a:xfrm>
            <a:off x="498475" y="1985963"/>
            <a:ext cx="8119052" cy="4396364"/>
          </a:xfrm>
        </p:spPr>
        <p:txBody>
          <a:bodyPr>
            <a:normAutofit/>
          </a:bodyPr>
          <a:lstStyle/>
          <a:p>
            <a:r>
              <a:rPr lang="en-US" sz="2800" i="1" u="sng" dirty="0">
                <a:hlinkClick r:id="rId2"/>
              </a:rPr>
              <a:t>Alice </a:t>
            </a:r>
            <a:r>
              <a:rPr lang="en-US" sz="2800" i="1" u="sng" dirty="0" err="1">
                <a:hlinkClick r:id="rId2"/>
              </a:rPr>
              <a:t>Rawsthorn’s</a:t>
            </a:r>
            <a:r>
              <a:rPr lang="en-US" sz="2800" i="1" u="sng" dirty="0">
                <a:hlinkClick r:id="rId2"/>
              </a:rPr>
              <a:t>: Pirates, nurses and other rebels</a:t>
            </a:r>
            <a:r>
              <a:rPr lang="en-US" sz="2800" i="1" u="sng">
                <a:hlinkClick r:id="rId2"/>
              </a:rPr>
              <a:t> </a:t>
            </a:r>
            <a:r>
              <a:rPr lang="en-US" sz="2800" i="1" u="sng"/>
              <a:t>.</a:t>
            </a:r>
          </a:p>
          <a:p>
            <a:br>
              <a:rPr lang="en-US" sz="2800" i="1" u="sng" dirty="0"/>
            </a:br>
            <a:endParaRPr lang="en-NZ" sz="2800" dirty="0">
              <a:ea typeface="ＭＳ Ｐゴシック" panose="020B0600070205080204" pitchFamily="34" charset="-128"/>
            </a:endParaRPr>
          </a:p>
          <a:p>
            <a:endParaRPr lang="en-NZ" dirty="0">
              <a:ea typeface="ＭＳ Ｐゴシック" panose="020B0600070205080204" pitchFamily="34" charset="-128"/>
            </a:endParaRP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DAE96B3-17D5-4CCF-8161-E36CC98BE1B6}" type="slidenum">
              <a:rPr lang="en-GB">
                <a:solidFill>
                  <a:schemeClr val="bg1"/>
                </a:solidFill>
                <a:latin typeface="Rockwell" panose="02060603020205020403" pitchFamily="18" charset="0"/>
              </a:rPr>
              <a:pPr eaLnBrk="1" hangingPunct="1"/>
              <a:t>18</a:t>
            </a:fld>
            <a:endParaRPr lang="en-GB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8334</TotalTime>
  <Words>594</Words>
  <Application>Microsoft Office PowerPoint</Application>
  <PresentationFormat>‫הצגה על המסך (4:3)</PresentationFormat>
  <Paragraphs>84</Paragraphs>
  <Slides>18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18</vt:i4>
      </vt:variant>
    </vt:vector>
  </HeadingPairs>
  <TitlesOfParts>
    <vt:vector size="24" baseType="lpstr">
      <vt:lpstr>ＭＳ Ｐゴシック</vt:lpstr>
      <vt:lpstr>Arial</vt:lpstr>
      <vt:lpstr>Calibri</vt:lpstr>
      <vt:lpstr>Rockwell</vt:lpstr>
      <vt:lpstr>Wingdings</vt:lpstr>
      <vt:lpstr>Advantage</vt:lpstr>
      <vt:lpstr>The aesthetics of designing an AI system.  </vt:lpstr>
      <vt:lpstr>מצגת של PowerPoint‏</vt:lpstr>
      <vt:lpstr>The explosion of knowledge and data.</vt:lpstr>
      <vt:lpstr>Learning outcomes</vt:lpstr>
      <vt:lpstr>“What is beautiful is usable” (But it is not always the case!)</vt:lpstr>
      <vt:lpstr>Design Quiz: what is being asked here? </vt:lpstr>
      <vt:lpstr>Design Quiz: what is being asked here? Domain = Extremely difficult IQ tests.</vt:lpstr>
      <vt:lpstr>Design Quiz: what is being asked here? </vt:lpstr>
      <vt:lpstr>Design Quiz: what is being asked here? Domain = Automatic Differentiation</vt:lpstr>
      <vt:lpstr>Design Quiz: what is wrong here? Domain = Male Vs female design</vt:lpstr>
      <vt:lpstr>Design Quiz: Would you let your dentist choose a colour without examining your mouth? Domain = Dental Veneers</vt:lpstr>
      <vt:lpstr>Make sure your model generalises well by using augmentations. Domain = Face Detection</vt:lpstr>
      <vt:lpstr>Design Quiz: Is functionality important? Yes but … toxicity is too Domain = Dental Amalgams</vt:lpstr>
      <vt:lpstr>What guides an AI design?</vt:lpstr>
      <vt:lpstr>Is this a good design for persisting AI models? </vt:lpstr>
      <vt:lpstr>Is this a good design for defining an AI model? </vt:lpstr>
      <vt:lpstr>Is this a good design for defining augmentations for AI models? </vt:lpstr>
      <vt:lpstr>Further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GH3270</dc:creator>
  <cp:lastModifiedBy>GH3270</cp:lastModifiedBy>
  <cp:revision>197</cp:revision>
  <cp:lastPrinted>2015-03-23T09:09:27Z</cp:lastPrinted>
  <dcterms:created xsi:type="dcterms:W3CDTF">2011-05-08T11:48:48Z</dcterms:created>
  <dcterms:modified xsi:type="dcterms:W3CDTF">2020-06-03T12:44:33Z</dcterms:modified>
</cp:coreProperties>
</file>